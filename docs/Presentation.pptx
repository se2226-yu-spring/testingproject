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26E920-C843-4AE3-8C15-500E7DA99A75}" v="111" dt="2026-05-07T07:45:31.9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5/10/relationships/revisionInfo" Target="revisionInfo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099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431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683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279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674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148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981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091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8175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787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72480-10DA-4FB4-BEAE-2A1DEA90F248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48566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72480-10DA-4FB4-BEAE-2A1DEA90F248}" type="datetimeFigureOut">
              <a:rPr lang="tr-TR" smtClean="0"/>
              <a:t>7.05.2026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A84BC-3F9E-4B08-9743-FC4E27FA512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246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/>
              <a:t>SE 2226 Test Project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5204866"/>
            <a:ext cx="9144000" cy="1655762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/>
            <a:r>
              <a:rPr lang="tr-TR" sz="1100"/>
              <a:t>Batuhan Yerebasmaz 23070006029</a:t>
            </a:r>
          </a:p>
          <a:p>
            <a:pPr algn="r"/>
            <a:r>
              <a:rPr lang="tr-TR" sz="1100"/>
              <a:t>Osman Şahin Güler 240700060009</a:t>
            </a:r>
          </a:p>
          <a:p>
            <a:pPr algn="r"/>
            <a:r>
              <a:rPr lang="tr-TR" sz="1100"/>
              <a:t>İsmet Saygın Koç </a:t>
            </a:r>
            <a:r>
              <a:rPr lang="tr-TR" sz="1100">
                <a:ea typeface="+mn-lt"/>
                <a:cs typeface="+mn-lt"/>
              </a:rPr>
              <a:t>23070006038</a:t>
            </a:r>
          </a:p>
          <a:p>
            <a:pPr algn="r"/>
            <a:r>
              <a:rPr lang="tr-TR" sz="1100">
                <a:ea typeface="+mn-lt"/>
                <a:cs typeface="+mn-lt"/>
              </a:rPr>
              <a:t>Ege Çınar 24070006020</a:t>
            </a:r>
          </a:p>
          <a:p>
            <a:pPr algn="r"/>
            <a:r>
              <a:rPr lang="tr-TR" sz="1100">
                <a:ea typeface="+mn-lt"/>
                <a:cs typeface="+mn-lt"/>
              </a:rPr>
              <a:t>Atakan Sezginer 24070006126</a:t>
            </a:r>
            <a:endParaRPr lang="tr-TR" sz="1100"/>
          </a:p>
        </p:txBody>
      </p:sp>
      <p:pic>
        <p:nvPicPr>
          <p:cNvPr id="4" name="Resim 3" descr="Yaşar Üniversitesi öğretim üyesi alım ilanı 2019">
            <a:extLst>
              <a:ext uri="{FF2B5EF4-FFF2-40B4-BE49-F238E27FC236}">
                <a16:creationId xmlns:a16="http://schemas.microsoft.com/office/drawing/2014/main" id="{8AF2BA55-5B29-9FE2-9A7D-F8650873E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710" y="-1806"/>
            <a:ext cx="2475140" cy="124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CONTENT /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1. Introduction</a:t>
            </a:r>
          </a:p>
          <a:p>
            <a:pPr lvl="1"/>
            <a:r>
              <a:rPr sz="1800"/>
              <a:t>Project goal, scope, team</a:t>
            </a:r>
          </a:p>
          <a:p>
            <a:pPr/>
            <a:r>
              <a:rPr sz="1800"/>
              <a:t>2. Application Analysis</a:t>
            </a:r>
          </a:p>
          <a:p>
            <a:pPr lvl="1"/>
            <a:r>
              <a:rPr sz="1800"/>
              <a:t>Yemeksepeti (Black-Box) &amp; Library-DB-Express (White-Box)</a:t>
            </a:r>
          </a:p>
          <a:p>
            <a:pPr/>
            <a:r>
              <a:rPr sz="1800"/>
              <a:t>3. Black-Box Testing</a:t>
            </a:r>
          </a:p>
          <a:p>
            <a:pPr lvl="1"/>
            <a:r>
              <a:rPr sz="1800"/>
              <a:t>Equivalence Partitioning, Boundary Value Analysis, Use Case, Decision Table</a:t>
            </a:r>
          </a:p>
          <a:p>
            <a:pPr lvl="1"/>
            <a:r>
              <a:rPr sz="1800"/>
              <a:t>Web (Playwright) and Mobile (Maestro) automation</a:t>
            </a:r>
          </a:p>
          <a:p>
            <a:pPr/>
            <a:r>
              <a:rPr sz="1800"/>
              <a:t>4. White-Box Testing</a:t>
            </a:r>
          </a:p>
          <a:p>
            <a:pPr lvl="1"/>
            <a:r>
              <a:rPr sz="1800"/>
              <a:t>Statement / Branch coverage with Jest</a:t>
            </a:r>
          </a:p>
          <a:p>
            <a:pPr lvl="1"/>
            <a:r>
              <a:rPr sz="1800"/>
              <a:t>Mutation Testing with Stryker</a:t>
            </a:r>
          </a:p>
          <a:p>
            <a:pPr/>
            <a:r>
              <a:rPr sz="1800"/>
              <a:t>5. Results &amp; Lessons Learned</a:t>
            </a:r>
          </a:p>
          <a:p>
            <a:pPr/>
            <a:r>
              <a:rPr sz="1800"/>
              <a:t>6. Q&amp;A / Contact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Problem Definition  —  Application Analysis  —  Test Cases  —  Automated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1. 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Software Quality Assurance and Testing course project (SE 2226).</a:t>
            </a:r>
          </a:p>
          <a:p>
            <a:pPr/>
            <a:r>
              <a:rPr sz="1800"/>
              <a:t>Apply both Black-Box and White-Box testing techniques to real applications.</a:t>
            </a:r>
          </a:p>
          <a:p>
            <a:pPr/>
            <a:r>
              <a:rPr sz="1800"/>
              <a:t>Black-Box target: Yemeksepeti — large food delivery platform (web + mobile).</a:t>
            </a:r>
          </a:p>
          <a:p>
            <a:pPr/>
            <a:r>
              <a:rPr sz="1800"/>
              <a:t>White-Box target: Library-DB-Express — Node.js / Express + Sequelize app.</a:t>
            </a:r>
          </a:p>
          <a:p>
            <a:pPr/>
            <a:r>
              <a:rPr sz="1800"/>
              <a:t>Goals:</a:t>
            </a:r>
          </a:p>
          <a:p>
            <a:pPr lvl="1"/>
            <a:r>
              <a:rPr sz="1800"/>
              <a:t>Cover Equivalence Partitioning, BVA, Use Case, Decision Table.</a:t>
            </a:r>
          </a:p>
          <a:p>
            <a:pPr lvl="1"/>
            <a:r>
              <a:rPr sz="1800"/>
              <a:t>Reach high statement / branch coverage and a strong mutation score.</a:t>
            </a:r>
          </a:p>
          <a:p>
            <a:pPr lvl="1"/>
            <a:r>
              <a:rPr sz="1800"/>
              <a:t>Produce automation that can be re-run in CI.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2. APPLICATION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r>
              <a:rPr b="1" sz="2000"/>
              <a:t>Yemeksepeti (Black-Box)</a:t>
            </a:r>
          </a:p>
          <a:p>
            <a:pPr lvl="1"/>
            <a:r>
              <a:rPr sz="1500"/>
              <a:t>Food delivery (web + mobile).</a:t>
            </a:r>
          </a:p>
          <a:p>
            <a:pPr lvl="1"/>
            <a:r>
              <a:rPr sz="1500"/>
              <a:t>Account, search, browse, cart, checkout.</a:t>
            </a:r>
          </a:p>
          <a:p>
            <a:pPr lvl="1"/>
            <a:r>
              <a:rPr sz="1500"/>
              <a:t>Web: Chrome via Playwright/Java.</a:t>
            </a:r>
          </a:p>
          <a:p>
            <a:pPr lvl="1"/>
            <a:r>
              <a:rPr sz="1500"/>
              <a:t>Mobile: Maestro on Android.</a:t>
            </a:r>
          </a:p>
          <a:p>
            <a:pPr lvl="1"/>
            <a:r>
              <a:rPr sz="1500"/>
              <a:t>Synthetic data only — no real payment.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/>
            <a:r>
              <a:rPr b="1" sz="2000"/>
              <a:t>Library-DB-Express (White-Box)</a:t>
            </a:r>
          </a:p>
          <a:p>
            <a:pPr lvl="1"/>
            <a:r>
              <a:rPr sz="1500"/>
              <a:t>Node.js + Express + Sequelize + SQLite.</a:t>
            </a:r>
          </a:p>
          <a:p>
            <a:pPr lvl="1"/>
            <a:r>
              <a:rPr sz="1500"/>
              <a:t>Books CRUD, search, pagination.</a:t>
            </a:r>
          </a:p>
          <a:p>
            <a:pPr lvl="1"/>
            <a:r>
              <a:rPr sz="1500"/>
              <a:t>Routes, models, error handlers, server bootstrap.</a:t>
            </a:r>
          </a:p>
          <a:p>
            <a:pPr lvl="1"/>
            <a:r>
              <a:rPr sz="1500"/>
              <a:t>Tested with Jest 30.3.0 — 152 test cases (10 suites).</a:t>
            </a:r>
          </a:p>
          <a:p>
            <a:pPr lvl="1"/>
            <a:r>
              <a:rPr sz="1500"/>
              <a:t>Mutation tested with Stryker v7.3.0.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3. BLACK-BOX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Yemeksepeti — Web (Playwright) and Mobile (Maestro)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BLACK-BOX SCOPE &amp;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Test level: System Testing — Functional + UI + Regression (test_plan.pdf §1.1).</a:t>
            </a:r>
          </a:p>
          <a:p>
            <a:pPr/>
            <a:r>
              <a:rPr sz="1800"/>
              <a:t>Out of scope: real payment, performance / load / security (§1.3).</a:t>
            </a:r>
          </a:p>
          <a:p>
            <a:pPr/>
            <a:r>
              <a:rPr sz="1800"/>
              <a:t>Techniques applied (§3.5):</a:t>
            </a:r>
          </a:p>
          <a:p>
            <a:pPr lvl="1"/>
            <a:r>
              <a:rPr sz="1800"/>
              <a:t>Equivalence Partitioning</a:t>
            </a:r>
          </a:p>
          <a:p>
            <a:pPr lvl="1"/>
            <a:r>
              <a:rPr sz="1800"/>
              <a:t>Boundary Value Analysis</a:t>
            </a:r>
          </a:p>
          <a:p>
            <a:pPr lvl="1"/>
            <a:r>
              <a:rPr sz="1800"/>
              <a:t>Use Case Testing</a:t>
            </a:r>
          </a:p>
          <a:p>
            <a:pPr lvl="1"/>
            <a:r>
              <a:rPr sz="1800"/>
              <a:t>Decision Table Testing</a:t>
            </a:r>
          </a:p>
          <a:p>
            <a:pPr/>
            <a:r>
              <a:rPr sz="1800"/>
              <a:t>Tools:</a:t>
            </a:r>
          </a:p>
          <a:p>
            <a:pPr lvl="1"/>
            <a:r>
              <a:rPr sz="1800"/>
              <a:t>Web (primary): Java + Playwright 1.49 + JUnit 5, real Chrome via CDP.</a:t>
            </a:r>
          </a:p>
          <a:p>
            <a:pPr lvl="1"/>
            <a:r>
              <a:rPr sz="1800"/>
              <a:t>Web (secondary): Selenium IDE on Mozilla Firefox.</a:t>
            </a:r>
          </a:p>
          <a:p>
            <a:pPr lvl="1"/>
            <a:r>
              <a:rPr sz="1800"/>
              <a:t>Mobile: Maestro Studio on a physical Android device.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EQUIVALENCE PARTITIONING — Restaurant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/>
              <a:t>Address / search query partitioned into equivalence classes.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5532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Example input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Expected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Observed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00"/>
                        <a:t>Valid full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"Hatay"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Suggestions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PASS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00"/>
                        <a:t>Valid partial 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"Üniversite 2"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Filtered suggestions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PASS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00"/>
                        <a:t>Non-existent 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"RandomText"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"No results" empty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PASS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00"/>
                        <a:t>Empty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""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Submit disabled / no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PASS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00"/>
                        <a:t>Special 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"!@#$%"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 crash, empty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BOUNDARY VALUE ANALYSIS — Cart Quantity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/>
              <a:t>Sequence 0 → 1 → 2 → 1 → 0 verified on web (cart) and mobile.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5532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Equivalence class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Expected result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Actual result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00"/>
                        <a:t>U1 — Below lower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 (remove)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Item removed, cart 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Cart empty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00"/>
                        <a:t>E1 — Lower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Item added, total = price ×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Match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00"/>
                        <a:t>E2 — Increment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Total = price ×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Match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00"/>
                        <a:t>E3 — Decrement back to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Total restored to price ×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Match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00"/>
                        <a:t>U2 — Remove from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Cart returns to 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Match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DECISION TABLE — Checkout Payment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/>
              <a:t>Each rule is an input combination; expected outcome is the order placement state.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5532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Cart filled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Address selected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Payment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Expected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0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Cash (Nakit)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Place-order enabled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0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Online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Place-order enabled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0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Card on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Place-order enabled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00"/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Address step required</a:t>
                      </a:r>
                    </a:p>
                  </a:txBody>
                  <a:tcPr/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100"/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Checkout disabled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USE CASE TESTING — Add Product to Cart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Actors: Guest user (web), authenticated user (mobile).</a:t>
            </a:r>
          </a:p>
          <a:p>
            <a:pPr/>
            <a:r>
              <a:rPr sz="1800"/>
              <a:t>Pre-conditions: app reachable, address picked, restaurant open.</a:t>
            </a:r>
          </a:p>
          <a:p>
            <a:pPr/>
            <a:r>
              <a:rPr sz="1800"/>
              <a:t>Main flow:</a:t>
            </a:r>
          </a:p>
          <a:p>
            <a:pPr lvl="1"/>
            <a:r>
              <a:rPr sz="1800"/>
              <a:t>1. Open menu → 2. Pick item → 3. Add to cart</a:t>
            </a:r>
          </a:p>
          <a:p>
            <a:pPr lvl="1"/>
            <a:r>
              <a:rPr sz="1800"/>
              <a:t>4. Increment quantity → 5. Verify total math</a:t>
            </a:r>
          </a:p>
          <a:p>
            <a:pPr lvl="1"/>
            <a:r>
              <a:rPr sz="1800"/>
              <a:t>6. Decrement → 7. Remove → 8. Cart empty</a:t>
            </a:r>
          </a:p>
          <a:p>
            <a:pPr/>
            <a:r>
              <a:rPr sz="1800"/>
              <a:t>Post-conditions: cart state matches user actions; price math correct.</a:t>
            </a:r>
          </a:p>
          <a:p>
            <a:pPr/>
            <a:r>
              <a:rPr sz="1800"/>
              <a:t>Result: ✅ All steps pass for web Playwright run on 2026-05-07.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MOBILE TESTS — Maestro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Functional flows authored as Maestro YAML scripts:</a:t>
            </a:r>
          </a:p>
          <a:p>
            <a:pPr lvl="1"/>
            <a:r>
              <a:rPr sz="1800"/>
              <a:t>Location Management — saved address + new address creation</a:t>
            </a:r>
          </a:p>
          <a:p>
            <a:pPr lvl="1"/>
            <a:r>
              <a:rPr sz="1800"/>
              <a:t>Cart Operations — add, increase, decrease, remove (4 actions)</a:t>
            </a:r>
          </a:p>
          <a:p>
            <a:pPr lvl="1"/>
            <a:r>
              <a:rPr sz="1800"/>
              <a:t>Search — restaurant-based and food-based queries</a:t>
            </a:r>
          </a:p>
          <a:p>
            <a:pPr lvl="1"/>
            <a:r>
              <a:rPr sz="1800"/>
              <a:t>Payment — Credit Card, POS at the door, Cash</a:t>
            </a:r>
          </a:p>
          <a:p>
            <a:pPr/>
            <a:r>
              <a:rPr sz="1800"/>
              <a:t>Run on a physical Android device via ADB; selectors anchored on Maestro IDs.</a:t>
            </a:r>
          </a:p>
          <a:p>
            <a:pPr/>
            <a:r>
              <a:rPr sz="1800"/>
              <a:t>Authentication blocked: Login / Register screens are anti-screenshot (black inside Maestro).</a:t>
            </a:r>
          </a:p>
          <a:p>
            <a:pPr lvl="1"/>
            <a:r>
              <a:rPr sz="1800"/>
              <a:t>Resolution: guest / pre-authenticated sessions used to verify the remaining modules.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WEB TESTS — Playwright/JUnit Results (run 2026-05-08)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/>
              <a:t>Run 2026-05-08 02:54–03:01, Chrome 148, persistent CDP profile, locale tr-TR.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33400">
                <a:tc>
                  <a:txBody>
                    <a:bodyPr/>
                    <a:lstStyle/>
                    <a:p>
                      <a:r>
                        <a:t>Class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Tests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Fail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Error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YemekSepetiLoginTest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YemekSepetiSearchTest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YemekSepetiCartTest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YemekSepetiPayTest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/>
              <a:t>Aggregate: 6 / 8 passing — 1 fail and 1 error driven by account/address data, not application defects.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BLACK-BOX FINDINGS, GAPS &amp; SECONDARY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0 application defects found in the system under test (TEST_REPORT.md §3.4).</a:t>
            </a:r>
          </a:p>
          <a:p>
            <a:pPr/>
            <a:r>
              <a:rPr sz="1800"/>
              <a:t>CartTest fail / PayTest scenario3 error: account had no deliverable address for the express-lane restaurants.</a:t>
            </a:r>
          </a:p>
          <a:p>
            <a:pPr/>
            <a:r>
              <a:rPr sz="1800"/>
              <a:t>Selenium IDE on Firefox — 12 / 15 pass (~80%); login &amp; special-character search were unstable.</a:t>
            </a:r>
          </a:p>
          <a:p>
            <a:pPr/>
            <a:r>
              <a:rPr sz="1800"/>
              <a:t>Maestro mobile — Login / Register blocked by anti-screenshot security; remaining flows verified.</a:t>
            </a:r>
          </a:p>
          <a:p>
            <a:pPr/>
            <a:r>
              <a:rPr sz="1800"/>
              <a:t>Anti-bot (PerimeterX) is mitigated by the persistent profile pre-warm and Buster captcha auto-click.</a:t>
            </a:r>
          </a:p>
          <a:p>
            <a:pPr/>
            <a:r>
              <a:rPr sz="1800"/>
              <a:t>Test data is synthetic only (test_plan.pdf §3.9); cart assertions verify math, not literal TL strings.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4. WHITE-BOX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Library-DB-Express — Jest unit + integration, Stryker mutation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WHITE-BOX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Test level: Unit + Integration (structural / white-box).</a:t>
            </a:r>
          </a:p>
          <a:p>
            <a:pPr/>
            <a:r>
              <a:rPr sz="1800"/>
              <a:t>Source under test:</a:t>
            </a:r>
          </a:p>
          <a:p>
            <a:pPr lvl="1"/>
            <a:r>
              <a:rPr sz="1800"/>
              <a:t>routes/index.js — CRUD + pagination + search (V(G) summed = 17)</a:t>
            </a:r>
          </a:p>
          <a:p>
            <a:pPr lvl="1"/>
            <a:r>
              <a:rPr sz="1800"/>
              <a:t>models/book.js — Sequelize validators</a:t>
            </a:r>
          </a:p>
          <a:p>
            <a:pPr lvl="1"/>
            <a:r>
              <a:rPr sz="1800"/>
              <a:t>errorHandlers.js — fourOhFour + globalError middleware</a:t>
            </a:r>
          </a:p>
          <a:p>
            <a:pPr lvl="1"/>
            <a:r>
              <a:rPr sz="1800"/>
              <a:t>app.js — middleware order, sequelize sync IIFE</a:t>
            </a:r>
          </a:p>
          <a:p>
            <a:pPr/>
            <a:r>
              <a:rPr sz="1800"/>
              <a:t>Test framework: Jest 30.3.0 + supertest, in-memory SQLite (force-sync per beforeAll).</a:t>
            </a:r>
          </a:p>
          <a:p>
            <a:pPr/>
            <a:r>
              <a:rPr sz="1800"/>
              <a:t>Mutation framework: Stryker 7.3.0 with coverageAnalysis: 'perTest', ignoreStatic: true.</a:t>
            </a:r>
          </a:p>
          <a:p>
            <a:pPr/>
            <a:r>
              <a:rPr sz="1800"/>
              <a:t>Techniques: SC, Branch, Basis Path (V(G)), BVA, Data-Flow — one dedicated test file each.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WHITE-BOX COVERAGE — Jest / istanbul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87828">
                <a:tc>
                  <a:txBody>
                    <a:bodyPr/>
                    <a:lstStyle/>
                    <a:p>
                      <a:r>
                        <a:t>File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% Stmts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% Branch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% Lines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All files (overall)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98.23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routes/index.js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100.00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models/book.js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100.00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errorHandlers.js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100.00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app.js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96.15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t>models/index.js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/>
              <a:t>All 152 Jest tests pass (10 suites, ~13.5 s). Targets ≥ 80% / ≥ 75% — both exceeded.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MUTATION TESTING — Stryker v7.3.0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/>
              <a:t>Mutation Score = (Killed + Timeout) / Tested = 95 / 100 = 95.00%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4864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%</a:t>
                      </a:r>
                    </a:p>
                  </a:txBody>
                  <a:tcPr>
                    <a:solidFill>
                      <a:srgbClr val="2E5A8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Mutants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Static (ignored, schema)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Mutants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Killed (incl. 13 timeouts)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95.00%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Survived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NoCoverage (defensive)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/>
              <a:t>Threshold target ≥ 80% — exceeded by 15 percentage points; 0 surviving mutants.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DEFECT FOUND VIA MUTATION TESTING — WB-D1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Symptom: 2 mutants on the literal "New Book" survived in routes/index.js.</a:t>
            </a:r>
          </a:p>
          <a:p>
            <a:pPr/>
            <a:r>
              <a:rPr sz="1800"/>
              <a:t>Investigation: turned out to be EQUIVALENT mutants — no Pug template consumed the title local.</a:t>
            </a:r>
          </a:p>
          <a:p>
            <a:pPr/>
            <a:r>
              <a:rPr sz="1800"/>
              <a:t>Root cause: views/layout.pug never rendered title= title in &lt;head&gt;.</a:t>
            </a:r>
          </a:p>
          <a:p>
            <a:pPr/>
            <a:r>
              <a:rPr sz="1800"/>
              <a:t>Fix: render the local in layout.pug; add matching assertions in routes.test.js.</a:t>
            </a:r>
          </a:p>
          <a:p>
            <a:pPr/>
            <a:r>
              <a:rPr sz="1800"/>
              <a:t>Result: both mutants now killed; mutation score lifted from 93.00% → 95.00%.</a:t>
            </a:r>
          </a:p>
          <a:p>
            <a:pPr/>
            <a:r>
              <a:rPr sz="1800"/>
              <a:t>Lesson: mutation testing surfaces dead code, not just weak tests.</a:t>
            </a:r>
          </a:p>
          <a:p>
            <a:pPr/>
            <a:r>
              <a:rPr sz="1800"/>
              <a:t>5 NoCoverage mutants remain on defensive / fault-injection paths (app.js L24, models/index.js L14) — accepted.</a:t>
            </a:r>
          </a:p>
          <a:p>
            <a:pPr lvl="1"/>
            <a:r>
              <a:rPr sz="1800"/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5. CONCLUSIONS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700"/>
              <a:t>Black-Box (Yemeksepeti):</a:t>
            </a:r>
          </a:p>
          <a:p>
            <a:pPr lvl="1"/>
            <a:r>
              <a:rPr sz="1700"/>
              <a:t>Web Playwright/JUnit: 6 / 8 PASS on 2026-05-08; the 2 non-passes are profile/address dependencies, not application defects.</a:t>
            </a:r>
          </a:p>
          <a:p>
            <a:pPr lvl="1"/>
            <a:r>
              <a:rPr sz="1700"/>
              <a:t>Selenium IDE on Firefox: 12 / 15 PASS (~80%). Maestro mobile: 4 modules covered, Auth blocked by anti-screenshot.</a:t>
            </a:r>
          </a:p>
          <a:p>
            <a:pPr lvl="1"/>
            <a:r>
              <a:rPr sz="1700"/>
              <a:t>All four techniques exercised: EP, BVA, Use Case, Decision Table.</a:t>
            </a:r>
          </a:p>
          <a:p>
            <a:pPr/>
            <a:r>
              <a:rPr sz="1700"/>
              <a:t>White-Box (Library-DB-Express):</a:t>
            </a:r>
          </a:p>
          <a:p>
            <a:pPr lvl="1"/>
            <a:r>
              <a:rPr sz="1700"/>
              <a:t>152 / 152 Jest tests passing; SC = 98.26%, BC = 82.60%.</a:t>
            </a:r>
          </a:p>
          <a:p>
            <a:pPr lvl="1"/>
            <a:r>
              <a:rPr sz="1700"/>
              <a:t>Mutation score 95.00% (100 valid mutants, 0 survivors, 5 NoCoverage on defensive paths).</a:t>
            </a:r>
          </a:p>
          <a:p>
            <a:pPr lvl="1"/>
            <a:r>
              <a:rPr sz="1700"/>
              <a:t>Mutation testing surfaced one real defect (WB-D1) — fixed at views/layout.pug.</a:t>
            </a:r>
          </a:p>
          <a:p>
            <a:pPr/>
            <a:r>
              <a:rPr sz="1700"/>
              <a:t>Future work:</a:t>
            </a:r>
          </a:p>
          <a:p>
            <a:pPr lvl="1"/>
            <a:r>
              <a:rPr sz="1700"/>
              <a:t>Add a synthetic Yemeksepeti test account with a saved deliverable address to make CartTest unattended.</a:t>
            </a:r>
          </a:p>
          <a:p>
            <a:pPr lvl="1"/>
            <a:r>
              <a:rPr sz="1700"/>
              <a:t>Implement registration tests once a synthetic SMS gateway is available.</a:t>
            </a:r>
          </a:p>
          <a:p>
            <a:pPr lvl="1"/>
            <a:r>
              <a:rPr sz="1700"/>
              <a:t>Wire Jest + Stryker into CI with score thresholds (SC ≥ 95%, mutation ≥ 95%).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Mutation testing surfaces dead code, not just weak tests — "equivalent mutants" pointed to a real bug (WB-D1).</a:t>
            </a:r>
          </a:p>
          <a:p>
            <a:pPr/>
            <a:r>
              <a:rPr sz="1800"/>
              <a:t>High statement coverage ≠ high mutation detection — boundary and decision tests are essential.</a:t>
            </a:r>
          </a:p>
          <a:p>
            <a:pPr/>
            <a:r>
              <a:rPr sz="1800"/>
              <a:t>Real Chrome over CDP, not bundled Chromium — anti-bot fingerprinting rejects the Playwright default browser.</a:t>
            </a:r>
          </a:p>
          <a:p>
            <a:pPr/>
            <a:r>
              <a:rPr sz="1800"/>
              <a:t>data-testid selectors survive UI tweaks far better than CSS-class selectors.</a:t>
            </a:r>
          </a:p>
          <a:p>
            <a:pPr/>
            <a:r>
              <a:rPr sz="1800"/>
              <a:t>Tool-version compatibility matters — Stryker 7.3.0 for Node 18; coverageAnalysis: 'perTest' + ignoreStatic: true to score honestly.</a:t>
            </a:r>
          </a:p>
          <a:p>
            <a:pPr/>
            <a:r>
              <a:rPr sz="1800"/>
              <a:t>Replace literal-price assertions with the math (×2, ½, drain) when the dataset rotates per run.</a:t>
            </a:r>
          </a:p>
          <a:p>
            <a:pPr/>
            <a:r>
              <a:rPr sz="1800"/>
              <a:t>Plan named techniques (SC, BC, basis path, DFT, mutation) rather than named tools — substitutions stay sound.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 b="1"/>
              <a:t>THANK YOU FOR LISTENING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Questions &amp; Discussion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CONTACT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Batuhan Yerebasmaz — 23070006029</a:t>
            </a:r>
          </a:p>
          <a:p>
            <a:pPr/>
            <a:r>
              <a:rPr sz="1800"/>
              <a:t>Osman Şahin Güler — 24070006009 — osmansahinguler@gmail.com</a:t>
            </a:r>
          </a:p>
          <a:p>
            <a:pPr/>
            <a:r>
              <a:rPr sz="1800"/>
              <a:t>İsmet Saygın Koç — 23070006038</a:t>
            </a:r>
          </a:p>
          <a:p>
            <a:pPr/>
            <a:r>
              <a:rPr sz="1800"/>
              <a:t>Ege Çınar — 24070006020</a:t>
            </a:r>
          </a:p>
          <a:p>
            <a:pPr/>
            <a:r>
              <a:rPr sz="1800"/>
              <a:t>Atakan Sezginer — 24070006126</a:t>
            </a:r>
          </a:p>
          <a:p>
            <a:pPr/>
          </a:p>
          <a:p>
            <a:pPr/>
            <a:r>
              <a:rPr sz="1800"/>
              <a:t>Course: SE 2226 — Software Quality Assurance and Testing</a:t>
            </a:r>
          </a:p>
          <a:p>
            <a:pPr/>
            <a:r>
              <a:rPr sz="1800"/>
              <a:t>Department of Software Engineering — Doç. Dr. Korhan Karabulut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s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Geniş ekran</PresentationFormat>
  <Slides>2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3" baseType="lpstr">
      <vt:lpstr>Ofis Teması</vt:lpstr>
      <vt:lpstr>SE 2226 Test Project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2026-05-07T07:34:50Z</dcterms:created>
  <dcterms:modified xsi:type="dcterms:W3CDTF">2026-05-07T18:46:25Z</dcterms:modified>
</cp:coreProperties>
</file>